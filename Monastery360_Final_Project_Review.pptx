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013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0E0A"/>
          </a:solidFill>
          <a:ln>
            <a:solidFill>
              <a:srgbClr val="120E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3628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E67E22"/>
                </a:solidFill>
                <a:latin typeface="Calibri"/>
              </a:defRPr>
            </a:pPr>
            <a:r>
              <a:t>BATCH-B | PROJECT REVIEW</a:t>
            </a:r>
          </a:p>
          <a:p>
            <a:pPr>
              <a:spcAft>
                <a:spcPts val="1000"/>
              </a:spcAft>
              <a:defRPr sz="3600" b="1">
                <a:solidFill>
                  <a:srgbClr val="FFFFFF"/>
                </a:solidFill>
                <a:latin typeface="Trebuchet MS"/>
              </a:defRPr>
            </a:pPr>
            <a:r>
              <a:t>Digitize and Showcase Monasteries of Sikkim for Tourism and Cultural Preservation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t>A Comprehensive 360° Virtual Reality Portal, Interactive GIS Map, Festival Calendar &amp; Cultural Heritage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114800"/>
            <a:ext cx="10362895" cy="2103120"/>
          </a:xfrm>
          <a:prstGeom prst="roundRect">
            <a:avLst/>
          </a:prstGeom>
          <a:solidFill>
            <a:srgbClr val="1C1610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88720" y="4297680"/>
            <a:ext cx="2377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67E22"/>
                </a:solidFill>
                <a:latin typeface="Calibri"/>
              </a:defRPr>
            </a:pPr>
            <a:r>
              <a:t>TEAM NUMBER</a:t>
            </a:r>
          </a:p>
          <a:p>
            <a:pPr>
              <a:defRPr sz="1250" b="1">
                <a:solidFill>
                  <a:srgbClr val="FFFFFF"/>
                </a:solidFill>
                <a:latin typeface="Trebuchet MS"/>
              </a:defRPr>
            </a:pPr>
            <a:r>
              <a:t>Team No. 25</a:t>
            </a:r>
          </a:p>
          <a:p>
            <a:pPr>
              <a:defRPr sz="1050">
                <a:solidFill>
                  <a:srgbClr val="CBD5E1"/>
                </a:solidFill>
                <a:latin typeface="Calibri"/>
              </a:defRPr>
            </a:pPr>
            <a:r>
              <a:t>Batch-B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40" y="4297680"/>
            <a:ext cx="2377440" cy="8079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67E22"/>
                </a:solidFill>
                <a:latin typeface="Calibri"/>
              </a:defRPr>
            </a:pPr>
            <a:r>
              <a:rPr dirty="0"/>
              <a:t>TEAM MEMBERS</a:t>
            </a:r>
          </a:p>
          <a:p>
            <a:pPr>
              <a:defRPr sz="1250" b="1">
                <a:solidFill>
                  <a:srgbClr val="FFFFFF"/>
                </a:solidFill>
                <a:latin typeface="Trebuchet MS"/>
              </a:defRPr>
            </a:pPr>
            <a:r>
              <a:rPr dirty="0" err="1"/>
              <a:t>Jakeer</a:t>
            </a:r>
            <a:r>
              <a:rPr dirty="0"/>
              <a:t>, </a:t>
            </a:r>
            <a:r>
              <a:rPr dirty="0" err="1"/>
              <a:t>Shamilini</a:t>
            </a:r>
            <a:r>
              <a:rPr dirty="0"/>
              <a:t>, Rushil,</a:t>
            </a:r>
            <a:br>
              <a:rPr dirty="0"/>
            </a:br>
            <a:r>
              <a:rPr dirty="0"/>
              <a:t>Sravan, Ashritha</a:t>
            </a:r>
          </a:p>
          <a:p>
            <a:pPr>
              <a:defRPr sz="1050">
                <a:solidFill>
                  <a:srgbClr val="CBD5E1"/>
                </a:solidFill>
                <a:latin typeface="Calibri"/>
              </a:defRPr>
            </a:pPr>
            <a:r>
              <a:rPr dirty="0"/>
              <a:t>5 Members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4297680"/>
            <a:ext cx="2377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67E22"/>
                </a:solidFill>
                <a:latin typeface="Calibri"/>
              </a:defRPr>
            </a:pPr>
            <a:r>
              <a:t>DOMAIN / FOCUS</a:t>
            </a:r>
          </a:p>
          <a:p>
            <a:pPr>
              <a:defRPr sz="1250" b="1">
                <a:solidFill>
                  <a:srgbClr val="FFFFFF"/>
                </a:solidFill>
                <a:latin typeface="Trebuchet MS"/>
              </a:defRPr>
            </a:pPr>
            <a:r>
              <a:t>Web &amp; Cultural Tourism</a:t>
            </a:r>
          </a:p>
          <a:p>
            <a:pPr>
              <a:defRPr sz="1050">
                <a:solidFill>
                  <a:srgbClr val="CBD5E1"/>
                </a:solidFill>
                <a:latin typeface="Calibri"/>
              </a:defRPr>
            </a:pPr>
            <a:r>
              <a:t>Monastery360 Web Portal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4297680"/>
            <a:ext cx="237744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67E22"/>
                </a:solidFill>
                <a:latin typeface="Calibri"/>
              </a:defRPr>
            </a:pPr>
            <a:r>
              <a:rPr dirty="0"/>
              <a:t>SUBMISSION DATE</a:t>
            </a:r>
          </a:p>
          <a:p>
            <a:pPr>
              <a:defRPr sz="1250" b="1">
                <a:solidFill>
                  <a:srgbClr val="FFFFFF"/>
                </a:solidFill>
                <a:latin typeface="Trebuchet MS"/>
              </a:defRPr>
            </a:pPr>
            <a:r>
              <a:rPr lang="en-US" dirty="0"/>
              <a:t>15</a:t>
            </a:r>
            <a:r>
              <a:rPr dirty="0"/>
              <a:t> October 2026</a:t>
            </a:r>
          </a:p>
          <a:p>
            <a:pPr>
              <a:defRPr sz="1050">
                <a:solidFill>
                  <a:srgbClr val="CBD5E1"/>
                </a:solidFill>
                <a:latin typeface="Calibri"/>
              </a:defRPr>
            </a:pPr>
            <a:r>
              <a:rPr dirty="0"/>
              <a:t>Tentative Final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120E"/>
          </a:solidFill>
          <a:ln>
            <a:solidFill>
              <a:srgbClr val="1812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686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67E22"/>
                </a:solidFill>
                <a:latin typeface="Calibri"/>
              </a:defRPr>
            </a:pPr>
            <a:r>
              <a:t>BATCH-B | PROJECT REVIEW | TEAM NO. 25</a:t>
            </a:r>
          </a:p>
          <a:p>
            <a:pPr>
              <a:defRPr sz="2100" b="1">
                <a:solidFill>
                  <a:srgbClr val="FFFFFF"/>
                </a:solidFill>
                <a:latin typeface="Trebuchet MS"/>
              </a:defRPr>
            </a:pPr>
            <a:r>
              <a:t>1.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28600"/>
            <a:ext cx="18288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2400" b="1">
                <a:solidFill>
                  <a:srgbClr val="E67E22"/>
                </a:solidFill>
                <a:latin typeface="Trebuchet MS"/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12064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444752"/>
            <a:ext cx="46634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E67E22"/>
                </a:solidFill>
                <a:latin typeface="Trebuchet MS"/>
              </a:defRPr>
            </a:pPr>
            <a: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74519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202C"/>
                </a:solidFill>
                <a:latin typeface="Calibri"/>
              </a:defRPr>
            </a:pPr>
            <a:r>
              <a:t>Core Problem Definition</a:t>
            </a:r>
          </a:p>
          <a:p>
            <a:pPr>
              <a:spcAft>
                <a:spcPts val="1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Monastery and cultural tourism information in Sikkim can be difficult to explore in one single place.</a:t>
            </a:r>
            <a:br/>
            <a:r>
              <a:t>• Information regarding locations, historical background, visiting hours, and ongoing festival events is scattered across fragmented, outdated websites.</a:t>
            </a:r>
          </a:p>
          <a:p>
            <a:pPr>
              <a:defRPr sz="1200" b="1">
                <a:solidFill>
                  <a:srgbClr val="1A202C"/>
                </a:solidFill>
                <a:latin typeface="Calibri"/>
              </a:defRPr>
            </a:pPr>
            <a:r>
              <a:t>Who Faces This Problem?</a:t>
            </a:r>
          </a:p>
          <a:p>
            <a:pPr>
              <a:spcAft>
                <a:spcPts val="1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Domestic and international tourists who want to experience Sikkim's spiritual heritage but lack consolidated travel itineraries.</a:t>
            </a:r>
            <a:br/>
            <a:r>
              <a:t>• Devotees and elderly pilgrims who find remote high-altitude monasteries physically and geographically challenging to reach.</a:t>
            </a:r>
            <a:br/>
            <a:r>
              <a:t>• Cultural researchers seeking accurate archival documentation of murals, stupas, and thangkas.</a:t>
            </a:r>
          </a:p>
          <a:p>
            <a:pPr>
              <a:defRPr sz="1200" b="1">
                <a:solidFill>
                  <a:srgbClr val="1A202C"/>
                </a:solidFill>
                <a:latin typeface="Calibri"/>
              </a:defRPr>
            </a:pPr>
            <a:r>
              <a:t>Why Is Solving It Important?</a:t>
            </a:r>
          </a:p>
          <a:p>
            <a:pPr>
              <a:spcAft>
                <a:spcPts val="1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Remote monasteries risk digital obscurity without modern showcase platforms.</a:t>
            </a:r>
            <a:br/>
            <a:r>
              <a:t>• Directs tourism flow sustainably to regional communities, promoting local homestays, transport providers, and rural handicrafts.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2120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444752"/>
            <a:ext cx="475488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E67E22"/>
                </a:solidFill>
                <a:latin typeface="Trebuchet MS"/>
              </a:defRPr>
            </a:pPr>
            <a:r>
              <a:t>YOUR SOLUTION &amp; BENEFICIARIES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874519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67E22"/>
                </a:solidFill>
                <a:latin typeface="Calibri"/>
              </a:defRPr>
            </a:pPr>
            <a:r>
              <a:t>The Monastery360 Solution</a:t>
            </a:r>
          </a:p>
          <a:p>
            <a:pPr>
              <a:spcAft>
                <a:spcPts val="1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A centralized, high-performance web portal uniting 360° virtual tours, interactive geo-mapping, festival timelines, and verified accommodation directories.</a:t>
            </a:r>
            <a:br/>
            <a:r>
              <a:t>• Equirectangular panorama engine (Pannellum WebGL) bringing virtual access to sacred shrines without requiring specialized hardware.</a:t>
            </a:r>
          </a:p>
          <a:p>
            <a:pPr>
              <a:defRPr sz="1200" b="1">
                <a:solidFill>
                  <a:srgbClr val="E67E22"/>
                </a:solidFill>
                <a:latin typeface="Calibri"/>
              </a:defRPr>
            </a:pPr>
            <a:r>
              <a:t>Primary Stakeholder Benefits</a:t>
            </a:r>
          </a:p>
          <a:p>
            <a:pPr>
              <a:spcAft>
                <a:spcPts val="1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Tourists &amp; Pilgrims: Seamless exploration, panoramic 360° previews, route navigation, and integrated trip budgeting.</a:t>
            </a:r>
            <a:br/>
            <a:r>
              <a:t>• Local Communities: Increased eco-tourism revenue for regional homestays, cab operators, and authentic cultural artisans.</a:t>
            </a:r>
            <a:br/>
            <a:r>
              <a:t>• Cultural-Preservation Stakeholders: Long-term digital twin documentation of endangered architecture, centuries-old thangkas, and sacred rituals.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120E"/>
          </a:solidFill>
          <a:ln>
            <a:solidFill>
              <a:srgbClr val="1812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686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67E22"/>
                </a:solidFill>
                <a:latin typeface="Calibri"/>
              </a:defRPr>
            </a:pPr>
            <a:r>
              <a:t>BATCH-B | PROJECT REVIEW | TEAM NO. 25</a:t>
            </a:r>
          </a:p>
          <a:p>
            <a:pPr>
              <a:defRPr sz="2100" b="1">
                <a:solidFill>
                  <a:srgbClr val="FFFFFF"/>
                </a:solidFill>
                <a:latin typeface="Trebuchet MS"/>
              </a:defRPr>
            </a:pPr>
            <a:r>
              <a:t>2. Technology Stack &amp; Key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28600"/>
            <a:ext cx="18288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2400" b="1">
                <a:solidFill>
                  <a:srgbClr val="E67E22"/>
                </a:solidFill>
                <a:latin typeface="Trebuchet MS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12064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444752"/>
            <a:ext cx="46634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E67E22"/>
                </a:solidFill>
                <a:latin typeface="Trebuchet MS"/>
              </a:defRPr>
            </a:pPr>
            <a:r>
              <a:t>TECHNOLOGY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74519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A202C"/>
                </a:solidFill>
                <a:latin typeface="Calibri"/>
              </a:defRPr>
            </a:pPr>
            <a:r>
              <a:t>• Frontend: </a:t>
            </a:r>
            <a:r>
              <a:rPr b="0">
                <a:solidFill>
                  <a:srgbClr val="1E293B"/>
                </a:solidFill>
              </a:rPr>
              <a:t>HTML5, CSS3, Vanilla JavaScript (Modern ES6+ modular architecture, zero front-end framework bloat)</a:t>
            </a:r>
          </a:p>
          <a:p>
            <a:pPr>
              <a:spcAft>
                <a:spcPts val="800"/>
              </a:spcAft>
              <a:defRPr sz="1100" b="1">
                <a:solidFill>
                  <a:srgbClr val="1A202C"/>
                </a:solidFill>
                <a:latin typeface="Calibri"/>
              </a:defRPr>
            </a:pPr>
            <a:r>
              <a:t>• Backend: </a:t>
            </a:r>
            <a:r>
              <a:rPr b="0">
                <a:solidFill>
                  <a:srgbClr val="1E293B"/>
                </a:solidFill>
              </a:rPr>
              <a:t>Client-side only (Ultra-lightweight, browser-based prototype ensuring instant loading and zero server maintenance cost)</a:t>
            </a:r>
          </a:p>
          <a:p>
            <a:pPr>
              <a:spcAft>
                <a:spcPts val="800"/>
              </a:spcAft>
              <a:defRPr sz="1100" b="1">
                <a:solidFill>
                  <a:srgbClr val="1A202C"/>
                </a:solidFill>
                <a:latin typeface="Calibri"/>
              </a:defRPr>
            </a:pPr>
            <a:r>
              <a:t>• Storage: </a:t>
            </a:r>
            <a:r>
              <a:rPr b="0">
                <a:solidFill>
                  <a:srgbClr val="1E293B"/>
                </a:solidFill>
              </a:rPr>
              <a:t>Browser localStorage + centralized JavaScript data object (window.M360Data) for persistent user bookmarks, trip plans, and history</a:t>
            </a:r>
          </a:p>
          <a:p>
            <a:pPr>
              <a:spcAft>
                <a:spcPts val="800"/>
              </a:spcAft>
              <a:defRPr sz="1100" b="1">
                <a:solidFill>
                  <a:srgbClr val="1A202C"/>
                </a:solidFill>
                <a:latin typeface="Calibri"/>
              </a:defRPr>
            </a:pPr>
            <a:r>
              <a:t>• Tools &amp; Libraries: </a:t>
            </a:r>
            <a:r>
              <a:rPr b="0">
                <a:solidFill>
                  <a:srgbClr val="1E293B"/>
                </a:solidFill>
              </a:rPr>
              <a:t>• Pannellum (WebGL 360° equirectangular virtual tour engine)
• Leaflet &amp; OpenStreetMap (Interactive GIS map navigation)
• Google Fonts (Baloo 2 &amp; Poppins typography)
• HTML5 Canvas (Dynamic 360° fallback placeholder generator)</a:t>
            </a:r>
          </a:p>
          <a:p>
            <a:pPr>
              <a:spcAft>
                <a:spcPts val="800"/>
              </a:spcAft>
              <a:defRPr sz="1100" b="1">
                <a:solidFill>
                  <a:srgbClr val="1A202C"/>
                </a:solidFill>
                <a:latin typeface="Calibri"/>
              </a:defRPr>
            </a:pPr>
            <a:r>
              <a:t>• Development Tools: </a:t>
            </a:r>
            <a:r>
              <a:rPr b="0">
                <a:solidFill>
                  <a:srgbClr val="1E293B"/>
                </a:solidFill>
              </a:rPr>
              <a:t>VS Code, Git &amp; GitHub repository, PowerShell optimization scripts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2120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444752"/>
            <a:ext cx="475488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E67E22"/>
                </a:solidFill>
                <a:latin typeface="Trebuchet MS"/>
              </a:defRPr>
            </a:pPr>
            <a:r>
              <a:t>KEY 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874519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E67E22"/>
                </a:solidFill>
                <a:latin typeface="Calibri"/>
              </a:defRPr>
            </a:pPr>
            <a:r>
              <a:t>1. 360° Virtual Tours of Monasteries</a:t>
            </a:r>
          </a:p>
          <a:p>
            <a:pPr>
              <a:spcAft>
                <a:spcPts val="7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Immersive WebGL equirectangular panoramas of 8 renowned monasteries (Rumtek, Pemayangtse, Tashiding, Enchey, Ralang, Dubdi, Dodrul, Phensang) with mouse/touch drag navigation.</a:t>
            </a:r>
          </a:p>
          <a:p>
            <a:pPr>
              <a:defRPr sz="1150" b="1">
                <a:solidFill>
                  <a:srgbClr val="E67E22"/>
                </a:solidFill>
                <a:latin typeface="Calibri"/>
              </a:defRPr>
            </a:pPr>
            <a:r>
              <a:t>2. Interactive Monastery Map</a:t>
            </a:r>
          </a:p>
          <a:p>
            <a:pPr>
              <a:spcAft>
                <a:spcPts val="7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Interactive Leaflet GIS map with GPS pin markers across East, West, South, and North Sikkim, complete with turn-by-turn Google Maps direction linking.</a:t>
            </a:r>
          </a:p>
          <a:p>
            <a:pPr>
              <a:defRPr sz="1150" b="1">
                <a:solidFill>
                  <a:srgbClr val="E67E22"/>
                </a:solidFill>
                <a:latin typeface="Calibri"/>
              </a:defRPr>
            </a:pPr>
            <a:r>
              <a:t>3. Comprehensive Festival Calendar</a:t>
            </a:r>
          </a:p>
          <a:p>
            <a:pPr>
              <a:spcAft>
                <a:spcPts val="7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Dynamic 12-month cultural calendar tracking sacred Tibetan and Sikkimese festivals (Losar, Bumchu, Saga Dawa, Pang Lhabsol) with slide-in detail drawers.</a:t>
            </a:r>
          </a:p>
          <a:p>
            <a:pPr>
              <a:defRPr sz="1150" b="1">
                <a:solidFill>
                  <a:srgbClr val="E67E22"/>
                </a:solidFill>
                <a:latin typeface="Calibri"/>
              </a:defRPr>
            </a:pPr>
            <a:r>
              <a:t>4. Cultural Art &amp; Photo Gallery</a:t>
            </a:r>
          </a:p>
          <a:p>
            <a:pPr>
              <a:spcAft>
                <a:spcPts val="7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Curated multimedia archive showcasing golden stupas, centuries-old thangkas, and ancient vegetable-dye wall murals categorized by theme.</a:t>
            </a:r>
          </a:p>
          <a:p>
            <a:pPr>
              <a:defRPr sz="1150" b="1">
                <a:solidFill>
                  <a:srgbClr val="E67E22"/>
                </a:solidFill>
                <a:latin typeface="Calibri"/>
              </a:defRPr>
            </a:pPr>
            <a:r>
              <a:t>5. Accommodation &amp; Travel Integration</a:t>
            </a:r>
          </a:p>
          <a:p>
            <a:pPr>
              <a:spcAft>
                <a:spcPts val="7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Integrated hotel, homestay, and travel distance listings helping visitors plan lodging near remote monasteries.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120E"/>
          </a:solidFill>
          <a:ln>
            <a:solidFill>
              <a:srgbClr val="1812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686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67E22"/>
                </a:solidFill>
                <a:latin typeface="Calibri"/>
              </a:defRPr>
            </a:pPr>
            <a:r>
              <a:t>BATCH-B | PROJECT REVIEW | TEAM NO. 25</a:t>
            </a:r>
          </a:p>
          <a:p>
            <a:pPr>
              <a:defRPr sz="2100" b="1">
                <a:solidFill>
                  <a:srgbClr val="FFFFFF"/>
                </a:solidFill>
                <a:latin typeface="Trebuchet MS"/>
              </a:defRPr>
            </a:pPr>
            <a:r>
              <a:t>3. Project Workflow /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28600"/>
            <a:ext cx="18288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2400" b="1">
                <a:solidFill>
                  <a:srgbClr val="E67E22"/>
                </a:solidFill>
                <a:latin typeface="Trebuchet MS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10728655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399032"/>
            <a:ext cx="10271455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E67E22"/>
                </a:solidFill>
                <a:latin typeface="Trebuchet MS"/>
              </a:defRPr>
            </a:pPr>
            <a:r>
              <a:t>A. PROJECT WORKFLOW &amp; EXPECTED OUTCOME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1783080"/>
            <a:ext cx="2377440" cy="169164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69848" y="1828800"/>
            <a:ext cx="2157984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E67E22"/>
                </a:solidFill>
                <a:latin typeface="Trebuchet MS"/>
              </a:defRPr>
            </a:pPr>
            <a:r>
              <a:t>1. INPUT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User selects monastery from map, filters by sect/district, picks travel dates, or searches heritage keywords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55848" y="2377440"/>
            <a:ext cx="237744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800">
                <a:solidFill>
                  <a:srgbClr val="E67E22"/>
                </a:solidFill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11880" y="1783080"/>
            <a:ext cx="2377440" cy="169164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21608" y="1828800"/>
            <a:ext cx="2157984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A202C"/>
                </a:solidFill>
                <a:latin typeface="Trebuchet MS"/>
              </a:defRPr>
            </a:pPr>
            <a:r>
              <a:t>2. PROCESS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Client-side router parses query IDs, retrieves metadata from M360Data, and prepares panorama texture assets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07608" y="2377440"/>
            <a:ext cx="237744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800">
                <a:solidFill>
                  <a:srgbClr val="E67E22"/>
                </a:solidFill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783080"/>
            <a:ext cx="2377440" cy="169164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73368" y="1828800"/>
            <a:ext cx="2157984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A202C"/>
                </a:solidFill>
                <a:latin typeface="Trebuchet MS"/>
              </a:defRPr>
            </a:pPr>
            <a:r>
              <a:t>3. DATA / AI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LocalStorage loads user favorites; Pannellum WebGL decodes 360° equirectangular panorama with canvas fallbacks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59368" y="2377440"/>
            <a:ext cx="237744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800">
                <a:solidFill>
                  <a:srgbClr val="E67E22"/>
                </a:solidFill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15400" y="1783080"/>
            <a:ext cx="2377440" cy="169164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025128" y="1828800"/>
            <a:ext cx="2157984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E67E22"/>
                </a:solidFill>
                <a:latin typeface="Trebuchet MS"/>
              </a:defRPr>
            </a:pPr>
            <a:r>
              <a:t>4. OUTPUT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User immerses in 360° VR tour, views festival details, launches GPS navigation, and saves trip itinerary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886200"/>
            <a:ext cx="10728655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4050792"/>
            <a:ext cx="10271455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E67E22"/>
                </a:solidFill>
                <a:latin typeface="Trebuchet MS"/>
              </a:defRPr>
            </a:pPr>
            <a:r>
              <a:t>B. SIMPLE SYSTEM ARCHITECTURE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" y="4389120"/>
            <a:ext cx="3291840" cy="187451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97280" y="4480560"/>
            <a:ext cx="301752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A202C"/>
                </a:solidFill>
                <a:latin typeface="Trebuchet MS"/>
              </a:defRPr>
            </a:pPr>
            <a:r>
              <a:t>CLIENT / FRONTEND LAYER</a:t>
            </a:r>
          </a:p>
          <a:p>
            <a:pPr>
              <a:defRPr sz="919">
                <a:solidFill>
                  <a:srgbClr val="1E293B"/>
                </a:solidFill>
                <a:latin typeface="Calibri"/>
              </a:defRPr>
            </a:pPr>
            <a:r>
              <a:t>• 7 Responsive Pages: index.html, tours.html, stay.html, calendar.html, gallery.html, login.html, profile.html</a:t>
            </a:r>
            <a:br/>
            <a:r>
              <a:t>• Modular Components: Navbar, Search Modal (Ctrl+K), Accordion Gallery, Lightbox</a:t>
            </a:r>
            <a:br/>
            <a:r>
              <a:t>• Leaflet.js Mapping &amp; Pannellum WebGL 360° Tour Viewer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0" y="4389120"/>
            <a:ext cx="3291840" cy="187451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09160" y="4480560"/>
            <a:ext cx="301752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A202C"/>
                </a:solidFill>
                <a:latin typeface="Trebuchet MS"/>
              </a:defRPr>
            </a:pPr>
            <a:r>
              <a:t>CLIENT-SIDE APPLICATION LOGIC</a:t>
            </a:r>
          </a:p>
          <a:p>
            <a:pPr>
              <a:defRPr sz="919">
                <a:solidFill>
                  <a:srgbClr val="1E293B"/>
                </a:solidFill>
                <a:latin typeface="Calibri"/>
              </a:defRPr>
            </a:pPr>
            <a:r>
              <a:t>• Data Router (js/app.js): Handles dynamic DOM injection and search index matching</a:t>
            </a:r>
            <a:br/>
            <a:r>
              <a:t>• Virtual Tour Engine: Equirectangular projection with auto-rotation &amp; compass pitch</a:t>
            </a:r>
            <a:br/>
            <a:r>
              <a:t>• Dynamic Canvas Fallback: Generates synthetic panorama previews if asset is offline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83880" y="4389120"/>
            <a:ext cx="3291840" cy="187451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21040" y="4480560"/>
            <a:ext cx="301752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A202C"/>
                </a:solidFill>
                <a:latin typeface="Trebuchet MS"/>
              </a:defRPr>
            </a:pPr>
            <a:r>
              <a:t>STORAGE &amp; DATA ASSET LAYER</a:t>
            </a:r>
          </a:p>
          <a:p>
            <a:pPr>
              <a:defRPr sz="919">
                <a:solidFill>
                  <a:srgbClr val="1E293B"/>
                </a:solidFill>
                <a:latin typeface="Calibri"/>
              </a:defRPr>
            </a:pPr>
            <a:r>
              <a:t>• Centralized Heritage Data (js/data.js): 8 Monasteries, 12 Festivals, 8 Hotels</a:t>
            </a:r>
            <a:br/>
            <a:r>
              <a:t>• LocalStorage State: User session, visited gompa history, favorite bookmarks</a:t>
            </a:r>
            <a:br/>
            <a:r>
              <a:t>• Asset Pipeline: Web-optimized JPEG/PNG panoramas and thumbnails (&lt;5.5 MB total)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120E"/>
          </a:solidFill>
          <a:ln>
            <a:solidFill>
              <a:srgbClr val="1812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686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67E22"/>
                </a:solidFill>
                <a:latin typeface="Calibri"/>
              </a:defRPr>
            </a:pPr>
            <a:r>
              <a:t>BATCH-B | PROJECT REVIEW | TEAM NO. 25</a:t>
            </a:r>
          </a:p>
          <a:p>
            <a:pPr>
              <a:defRPr sz="2100" b="1">
                <a:solidFill>
                  <a:srgbClr val="FFFFFF"/>
                </a:solidFill>
                <a:latin typeface="Trebuchet MS"/>
              </a:defRPr>
            </a:pPr>
            <a:r>
              <a:t>4. Project Screenshots /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28600"/>
            <a:ext cx="18288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2400" b="1">
                <a:solidFill>
                  <a:srgbClr val="E67E22"/>
                </a:solidFill>
                <a:latin typeface="Trebuchet MS"/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10728655" cy="5943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234440"/>
            <a:ext cx="104241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A202C"/>
                </a:solidFill>
                <a:latin typeface="Calibri"/>
              </a:defRPr>
            </a:pPr>
            <a:r>
              <a:t>IMPLEMENTATION STATUS: </a:t>
            </a:r>
            <a:r>
              <a:rPr b="0">
                <a:solidFill>
                  <a:srgbClr val="1E293B"/>
                </a:solidFill>
              </a:rPr>
              <a:t>Completed: 7 core pages, 360° tours, calendar  |  Remaining: End-to-end testing, content checks &amp; demo polish  |  Working demo ready? </a:t>
            </a:r>
            <a:r>
              <a:rPr b="1">
                <a:solidFill>
                  <a:srgbClr val="E67E22"/>
                </a:solidFill>
              </a:rPr>
              <a:t>[In Progress / Prototype Stage]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333756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084832"/>
            <a:ext cx="288036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E67E22"/>
                </a:solidFill>
                <a:latin typeface="Trebuchet MS"/>
              </a:defRPr>
            </a:pPr>
            <a:r>
              <a:rPr dirty="0"/>
              <a:t>MAIN EXPLORER &amp; MAP</a:t>
            </a:r>
          </a:p>
        </p:txBody>
      </p:sp>
      <p:pic>
        <p:nvPicPr>
          <p:cNvPr id="10" name="Picture 9" descr="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423160"/>
            <a:ext cx="2971800" cy="1828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4389120"/>
            <a:ext cx="297180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1A202C"/>
                </a:solidFill>
                <a:latin typeface="Trebuchet MS"/>
              </a:defRPr>
            </a:pPr>
            <a:r>
              <a:t>Interactive Monastery Map &amp; Explorer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Real-time interactive Leaflet GIS map with 8 monastery markers.</a:t>
            </a:r>
            <a:br/>
            <a:r>
              <a:t>• Demonstrates monastery filtering, direct search, and turn-by-turn navigation.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25696" y="1920240"/>
            <a:ext cx="333756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54296" y="2084832"/>
            <a:ext cx="288036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E67E22"/>
                </a:solidFill>
                <a:latin typeface="Trebuchet MS"/>
              </a:defRPr>
            </a:pPr>
            <a:r>
              <a:rPr dirty="0"/>
              <a:t>360° VIRTUAL TOUR</a:t>
            </a:r>
          </a:p>
        </p:txBody>
      </p:sp>
      <p:pic>
        <p:nvPicPr>
          <p:cNvPr id="14" name="Picture 13" descr="rumtek_pa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8576" y="2423160"/>
            <a:ext cx="2971800" cy="1828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608576" y="4389120"/>
            <a:ext cx="297180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1A202C"/>
                </a:solidFill>
                <a:latin typeface="Trebuchet MS"/>
              </a:defRPr>
            </a:pPr>
            <a:r>
              <a:t>Pannellum 360° Virtual Tour Viewer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High-resolution equirectangular panorama viewer of sacred gompas.</a:t>
            </a:r>
            <a:br/>
            <a:r>
              <a:t>• Full drag controls, pitch/yaw rotation, and fallback placeholder handling.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9872" y="1920240"/>
            <a:ext cx="333756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48472" y="2084832"/>
            <a:ext cx="288036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E67E22"/>
                </a:solidFill>
                <a:latin typeface="Trebuchet MS"/>
              </a:defRPr>
            </a:pPr>
            <a:r>
              <a:rPr dirty="0"/>
              <a:t>CULTURAL CALENDAR &amp; STAYS</a:t>
            </a:r>
          </a:p>
        </p:txBody>
      </p:sp>
      <p:pic>
        <p:nvPicPr>
          <p:cNvPr id="18" name="Picture 17" descr="pemayangts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752" y="2423160"/>
            <a:ext cx="2971800" cy="18288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302752" y="4389120"/>
            <a:ext cx="297180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1A202C"/>
                </a:solidFill>
                <a:latin typeface="Trebuchet MS"/>
              </a:defRPr>
            </a:pPr>
            <a:r>
              <a:t>Festival Calendar &amp; Stay Filters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Demonstrates interactive 12-month Buddhist festival timeline.</a:t>
            </a:r>
            <a:br/>
            <a:r>
              <a:t>• Showcases cultural gallery and verified nearby hotel/homestay directory.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120E"/>
          </a:solidFill>
          <a:ln>
            <a:solidFill>
              <a:srgbClr val="1812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686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67E22"/>
                </a:solidFill>
                <a:latin typeface="Calibri"/>
              </a:defRPr>
            </a:pPr>
            <a:r>
              <a:t>BATCH-B | PROJECT REVIEW | TEAM NO. 25</a:t>
            </a:r>
          </a:p>
          <a:p>
            <a:pPr>
              <a:defRPr sz="2100" b="1">
                <a:solidFill>
                  <a:srgbClr val="FFFFFF"/>
                </a:solidFill>
                <a:latin typeface="Trebuchet MS"/>
              </a:defRPr>
            </a:pPr>
            <a:r>
              <a:t>5. Team Members &amp; Contributions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28600"/>
            <a:ext cx="18288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2400" b="1">
                <a:solidFill>
                  <a:srgbClr val="E67E22"/>
                </a:solidFill>
                <a:latin typeface="Trebuchet MS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10728655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399032"/>
            <a:ext cx="10271455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E67E22"/>
                </a:solidFill>
                <a:latin typeface="Trebuchet MS"/>
              </a:defRPr>
            </a:pPr>
            <a:r>
              <a:t>TEAM NO. 25 CONTRIBUTIONS MATRIX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005840" y="1828800"/>
          <a:ext cx="10180015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679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628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TEAM MEMBER</a:t>
                      </a:r>
                    </a:p>
                  </a:txBody>
                  <a:tcPr>
                    <a:solidFill>
                      <a:srgbClr val="1A202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TASK / MODULE</a:t>
                      </a:r>
                    </a:p>
                  </a:txBody>
                  <a:tcPr>
                    <a:solidFill>
                      <a:srgbClr val="1A202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WHAT THEY CONTRIBUTED</a:t>
                      </a:r>
                    </a:p>
                  </a:txBody>
                  <a:tcPr>
                    <a:solidFill>
                      <a:srgbClr val="1A20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l">
                        <a:defRPr sz="980" b="1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Jakeer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1">
                          <a:solidFill>
                            <a:srgbClr val="E67E22"/>
                          </a:solidFill>
                          <a:latin typeface="Calibri"/>
                        </a:defRPr>
                      </a:pPr>
                      <a:r>
                        <a:t>Accommodation &amp; Travel Management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• Developed stay.html directory and nearby accommodation filters (Luxury, Heritage, Boutique, Budget).</a:t>
                      </a:r>
                    </a:p>
                    <a:p>
                      <a:pPr algn="l">
                        <a:defRPr sz="98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• Integrated distance calculations and transport guide for travelers near monasteries.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l">
                        <a:defRPr sz="980" b="1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Shamilini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1">
                          <a:solidFill>
                            <a:srgbClr val="E67E22"/>
                          </a:solidFill>
                          <a:latin typeface="Calibri"/>
                        </a:defRPr>
                      </a:pPr>
                      <a:r>
                        <a:t>Virtual Tour Development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• Implemented Pannellum.js WebGL 360° virtual tour viewer across 8 monasteries.</a:t>
                      </a:r>
                    </a:p>
                    <a:p>
                      <a:pPr algn="l">
                        <a:defRPr sz="98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• Handled equirectangular panorama image loading, thumbnail switching, and fallback preview canvas.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l">
                        <a:defRPr sz="980" b="1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Rushil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1">
                          <a:solidFill>
                            <a:srgbClr val="E67E22"/>
                          </a:solidFill>
                          <a:latin typeface="Calibri"/>
                        </a:defRPr>
                      </a:pPr>
                      <a:r>
                        <a:t>Authentication &amp; UI Integration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• Engineered dual-mode authentication (localStorage session state + optional Supabase cloud schema).</a:t>
                      </a:r>
                    </a:p>
                    <a:p>
                      <a:pPr algn="l">
                        <a:defRPr sz="98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• Integrated responsive navigation bar, search modal (Ctrl+K), and core multi-page UI architecture.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l">
                        <a:defRPr sz="980" b="1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Sravan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1">
                          <a:solidFill>
                            <a:srgbClr val="E67E22"/>
                          </a:solidFill>
                          <a:latin typeface="Calibri"/>
                        </a:defRPr>
                      </a:pPr>
                      <a:r>
                        <a:t>Interactive Map &amp; Navigation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• Built Leaflet.js interactive GIS map with custom monastery markers across Sikkim districts.</a:t>
                      </a:r>
                    </a:p>
                    <a:p>
                      <a:pPr algn="l">
                        <a:defRPr sz="98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• Implemented coordinate popups with one-click direct Google Maps turn-by-turn navigation.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l">
                        <a:defRPr sz="980" b="1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Ashritha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1">
                          <a:solidFill>
                            <a:srgbClr val="E67E22"/>
                          </a:solidFill>
                          <a:latin typeface="Calibri"/>
                        </a:defRPr>
                      </a:pPr>
                      <a:r>
                        <a:t>Festival Calendar &amp; Cultural Gallery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• Designed calendar.html interactive monthly timeline for sacred events (Losar, Bumchu, Saga Dawa).</a:t>
                      </a:r>
                    </a:p>
                    <a:p>
                      <a:pPr algn="l">
                        <a:defRPr sz="98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• Created cultural gallery (gallery.html) with category filters (Art, History, Architecture) and lightbox.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120E"/>
          </a:solidFill>
          <a:ln>
            <a:solidFill>
              <a:srgbClr val="1812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686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67E22"/>
                </a:solidFill>
                <a:latin typeface="Calibri"/>
              </a:defRPr>
            </a:pPr>
            <a:r>
              <a:t>BATCH-B | PROJECT REVIEW | TEAM NO. 25</a:t>
            </a:r>
          </a:p>
          <a:p>
            <a:pPr>
              <a:defRPr sz="2100" b="1">
                <a:solidFill>
                  <a:srgbClr val="FFFFFF"/>
                </a:solidFill>
                <a:latin typeface="Trebuchet MS"/>
              </a:defRPr>
            </a:pPr>
            <a:r>
              <a:t>6. AI Project Video &amp;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28600"/>
            <a:ext cx="18288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2400" b="1">
                <a:solidFill>
                  <a:srgbClr val="E67E22"/>
                </a:solidFill>
                <a:latin typeface="Trebuchet MS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12064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399032"/>
            <a:ext cx="46634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E67E22"/>
                </a:solidFill>
                <a:latin typeface="Trebuchet MS"/>
              </a:defRPr>
            </a:pPr>
            <a:r>
              <a:t>MANDATORY AI VIDEO SUBMISSION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78308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E67E22"/>
                </a:solidFill>
                <a:latin typeface="Trebuchet MS"/>
              </a:defRPr>
            </a:pPr>
            <a:r>
              <a:rPr dirty="0"/>
              <a:t>VIDEO DURATION: 1 MIN 20 SEC  |  AI VOICE-OVER</a:t>
            </a:r>
          </a:p>
          <a:p>
            <a:pPr>
              <a:defRPr sz="1050" b="1">
                <a:solidFill>
                  <a:srgbClr val="1A202C"/>
                </a:solidFill>
                <a:latin typeface="Calibri"/>
              </a:defRPr>
            </a:pPr>
            <a:r>
              <a:rPr dirty="0"/>
              <a:t>0:00 – 0:20 | Problem &amp; Heritage Context</a:t>
            </a:r>
          </a:p>
          <a:p>
            <a:pPr>
              <a:spcAft>
                <a:spcPts val="400"/>
              </a:spcAft>
              <a:defRPr sz="980">
                <a:solidFill>
                  <a:srgbClr val="1E293B"/>
                </a:solidFill>
                <a:latin typeface="Calibri"/>
              </a:defRPr>
            </a:pPr>
            <a:r>
              <a:rPr dirty="0"/>
              <a:t>Introduces Sikkim's remote monasteries and the challenge of accessing scattered cultural information.</a:t>
            </a:r>
          </a:p>
          <a:p>
            <a:pPr>
              <a:defRPr sz="1050" b="1">
                <a:solidFill>
                  <a:srgbClr val="1A202C"/>
                </a:solidFill>
                <a:latin typeface="Calibri"/>
              </a:defRPr>
            </a:pPr>
            <a:r>
              <a:rPr dirty="0"/>
              <a:t>0:20 – 0:45 | Virtual Tour &amp; Map Demo</a:t>
            </a:r>
          </a:p>
          <a:p>
            <a:pPr>
              <a:spcAft>
                <a:spcPts val="400"/>
              </a:spcAft>
              <a:defRPr sz="980">
                <a:solidFill>
                  <a:srgbClr val="1E293B"/>
                </a:solidFill>
                <a:latin typeface="Calibri"/>
              </a:defRPr>
            </a:pPr>
            <a:r>
              <a:rPr dirty="0"/>
              <a:t>Live demonstration of selecting a monastery, launching the 360° </a:t>
            </a:r>
            <a:r>
              <a:rPr dirty="0" err="1"/>
              <a:t>Pannellum</a:t>
            </a:r>
            <a:r>
              <a:rPr dirty="0"/>
              <a:t> viewer, and exploring the GIS map.</a:t>
            </a:r>
          </a:p>
          <a:p>
            <a:pPr>
              <a:defRPr sz="1050" b="1">
                <a:solidFill>
                  <a:srgbClr val="1A202C"/>
                </a:solidFill>
                <a:latin typeface="Calibri"/>
              </a:defRPr>
            </a:pPr>
            <a:r>
              <a:rPr dirty="0"/>
              <a:t>0:45 – 1:05 | Festival Calendar &amp; Gallery</a:t>
            </a:r>
          </a:p>
          <a:p>
            <a:pPr>
              <a:spcAft>
                <a:spcPts val="400"/>
              </a:spcAft>
              <a:defRPr sz="980">
                <a:solidFill>
                  <a:srgbClr val="1E293B"/>
                </a:solidFill>
                <a:latin typeface="Calibri"/>
              </a:defRPr>
            </a:pPr>
            <a:r>
              <a:rPr dirty="0"/>
              <a:t>Showcasing annual ritual events (Losar, Bumchu) and filtering the sacred art and thangka gallery.</a:t>
            </a:r>
          </a:p>
          <a:p>
            <a:pPr>
              <a:defRPr sz="1050" b="1">
                <a:solidFill>
                  <a:srgbClr val="1A202C"/>
                </a:solidFill>
                <a:latin typeface="Calibri"/>
              </a:defRPr>
            </a:pPr>
            <a:r>
              <a:rPr dirty="0"/>
              <a:t>1:05 – 1:20 | Benefits &amp; Conclusion</a:t>
            </a:r>
          </a:p>
          <a:p>
            <a:pPr>
              <a:spcAft>
                <a:spcPts val="400"/>
              </a:spcAft>
              <a:defRPr sz="980">
                <a:solidFill>
                  <a:srgbClr val="1E293B"/>
                </a:solidFill>
                <a:latin typeface="Calibri"/>
              </a:defRPr>
            </a:pPr>
            <a:r>
              <a:rPr dirty="0"/>
              <a:t>Summary of cultural preservation benefits and impact on sustainable regional tourism.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5303520"/>
            <a:ext cx="4663440" cy="86868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5349240"/>
            <a:ext cx="448056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A202C"/>
                </a:solidFill>
                <a:latin typeface="Calibri"/>
              </a:defRPr>
            </a:pPr>
            <a:r>
              <a:rPr dirty="0"/>
              <a:t>AI Video Submission Link / File Name:</a:t>
            </a:r>
          </a:p>
          <a:p>
            <a:pPr>
              <a:defRPr sz="1050">
                <a:solidFill>
                  <a:srgbClr val="E67E22"/>
                </a:solidFill>
                <a:latin typeface="Trebuchet MS"/>
              </a:defRPr>
            </a:pPr>
            <a:r>
              <a:rPr dirty="0"/>
              <a:t>Monastery360_AI_Voiceover_Demo_1m20s.mp4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34440"/>
            <a:ext cx="521208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399032"/>
            <a:ext cx="475488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E67E22"/>
                </a:solidFill>
                <a:latin typeface="Trebuchet MS"/>
              </a:defRPr>
            </a:pPr>
            <a:r>
              <a:t>REVIEW TALKING POINTS &amp; CONCLUSION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783080"/>
            <a:ext cx="4754880" cy="1803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 b="1">
                <a:solidFill>
                  <a:srgbClr val="1A202C"/>
                </a:solidFill>
                <a:latin typeface="Calibri"/>
              </a:defRPr>
            </a:pPr>
            <a:r>
              <a:rPr dirty="0"/>
              <a:t>• Why This Stack?: </a:t>
            </a:r>
            <a:r>
              <a:rPr b="0" dirty="0">
                <a:solidFill>
                  <a:srgbClr val="1E293B"/>
                </a:solidFill>
              </a:rPr>
              <a:t>Lightweight, browser-based prototype requiring zero server overhead, loading instantly on any standard device.</a:t>
            </a:r>
          </a:p>
          <a:p>
            <a:pPr>
              <a:spcAft>
                <a:spcPts val="500"/>
              </a:spcAft>
              <a:defRPr sz="1050" b="1">
                <a:solidFill>
                  <a:srgbClr val="1A202C"/>
                </a:solidFill>
                <a:latin typeface="Calibri"/>
              </a:defRPr>
            </a:pPr>
            <a:r>
              <a:rPr dirty="0"/>
              <a:t>• What Is Working?: </a:t>
            </a:r>
            <a:r>
              <a:rPr b="0" dirty="0">
                <a:solidFill>
                  <a:srgbClr val="1E293B"/>
                </a:solidFill>
              </a:rPr>
              <a:t>360° virtual tour viewer, interactive Leaflet map, cultural gallery, festival calendar, and tourism stay pages.</a:t>
            </a:r>
          </a:p>
          <a:p>
            <a:pPr>
              <a:spcAft>
                <a:spcPts val="500"/>
              </a:spcAft>
              <a:defRPr sz="1050" b="1">
                <a:solidFill>
                  <a:srgbClr val="1A202C"/>
                </a:solidFill>
                <a:latin typeface="Calibri"/>
              </a:defRPr>
            </a:pPr>
            <a:r>
              <a:rPr dirty="0"/>
              <a:t>• Key Challenge Identified: </a:t>
            </a:r>
            <a:r>
              <a:rPr b="0" dirty="0">
                <a:solidFill>
                  <a:srgbClr val="1E293B"/>
                </a:solidFill>
              </a:rPr>
              <a:t>Creating awareness about lesser-known remote monasteries and collecting authentic high-resolution 360° assets.</a:t>
            </a:r>
          </a:p>
          <a:p>
            <a:pPr>
              <a:spcAft>
                <a:spcPts val="500"/>
              </a:spcAft>
              <a:defRPr sz="1050" b="1">
                <a:solidFill>
                  <a:srgbClr val="1A202C"/>
                </a:solidFill>
                <a:latin typeface="Calibri"/>
              </a:defRPr>
            </a:pPr>
            <a:r>
              <a:rPr dirty="0"/>
              <a:t>• Remaining Work Ahead: </a:t>
            </a:r>
            <a:r>
              <a:rPr b="0" dirty="0">
                <a:solidFill>
                  <a:srgbClr val="1E293B"/>
                </a:solidFill>
              </a:rPr>
              <a:t>Adding more monasteries to the interactive map and capturing more panoramic street views for full coverage.</a:t>
            </a:r>
          </a:p>
          <a:p>
            <a:pPr>
              <a:spcAft>
                <a:spcPts val="500"/>
              </a:spcAft>
              <a:defRPr sz="1050" b="1">
                <a:solidFill>
                  <a:srgbClr val="E67E22"/>
                </a:solidFill>
                <a:latin typeface="Calibri"/>
              </a:defRPr>
            </a:pPr>
            <a:r>
              <a:rPr dirty="0"/>
              <a:t>• Tentative Final Submission Date: </a:t>
            </a:r>
            <a:r>
              <a:rPr lang="en-US" b="1" dirty="0">
                <a:solidFill>
                  <a:srgbClr val="E67E22"/>
                </a:solidFill>
              </a:rPr>
              <a:t>15</a:t>
            </a:r>
            <a:r>
              <a:rPr b="1" dirty="0">
                <a:solidFill>
                  <a:srgbClr val="E67E22"/>
                </a:solidFill>
              </a:rPr>
              <a:t> October 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5303520"/>
            <a:ext cx="4754880" cy="868680"/>
          </a:xfrm>
          <a:prstGeom prst="roundRect">
            <a:avLst/>
          </a:prstGeom>
          <a:solidFill>
            <a:srgbClr val="1A202C"/>
          </a:solidFill>
          <a:ln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37960" y="5440680"/>
            <a:ext cx="457200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Trebuchet MS"/>
              </a:defRPr>
            </a:pPr>
            <a:r>
              <a:t>Thank You  |  Questions &amp; Answers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1555</Words>
  <Application>Microsoft Office PowerPoint</Application>
  <PresentationFormat>Widescreen</PresentationFormat>
  <Paragraphs>134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Rushil Sai Karthik Chandu</cp:lastModifiedBy>
  <cp:revision>2</cp:revision>
  <dcterms:created xsi:type="dcterms:W3CDTF">2013-01-27T09:14:16Z</dcterms:created>
  <dcterms:modified xsi:type="dcterms:W3CDTF">2026-10-15T00:35:08Z</dcterms:modified>
  <cp:category/>
</cp:coreProperties>
</file>